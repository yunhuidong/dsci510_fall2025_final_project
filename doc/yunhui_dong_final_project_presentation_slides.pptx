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Raleway Heavy" charset="1" panose="00000000000000000000"/>
      <p:regular r:id="rId15"/>
    </p:embeddedFont>
    <p:embeddedFont>
      <p:font typeface="Garet" charset="1" panose="00000000000000000000"/>
      <p:regular r:id="rId16"/>
    </p:embeddedFont>
    <p:embeddedFont>
      <p:font typeface="Montserrat Bold" charset="1" panose="00000800000000000000"/>
      <p:regular r:id="rId17"/>
    </p:embeddedFont>
    <p:embeddedFont>
      <p:font typeface="Montserrat" charset="1" panose="00000500000000000000"/>
      <p:regular r:id="rId18"/>
    </p:embeddedFont>
    <p:embeddedFont>
      <p:font typeface="Raleway" charset="1" panose="00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 Id="rId4" Target="../media/image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solidFill>
                <a:srgbClr val="000000">
                  <a:alpha val="0"/>
                </a:srgbClr>
              </a:solidFill>
              <a:ln w="66675" cap="sq">
                <a:solidFill>
                  <a:srgbClr val="508484"/>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solidFill>
                <a:srgbClr val="000000">
                  <a:alpha val="0"/>
                </a:srgbClr>
              </a:solidFill>
              <a:ln w="66675" cap="sq">
                <a:solidFill>
                  <a:srgbClr val="7CBBBB"/>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solidFill>
                <a:srgbClr val="000000">
                  <a:alpha val="0"/>
                </a:srgbClr>
              </a:solidFill>
              <a:ln w="66675" cap="sq">
                <a:solidFill>
                  <a:srgbClr val="B5EFE3"/>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10800000">
              <a:off x="18828976" y="8387239"/>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0" y="0"/>
              <a:ext cx="4439970" cy="4439970"/>
            </a:xfrm>
            <a:custGeom>
              <a:avLst/>
              <a:gdLst/>
              <a:ahLst/>
              <a:cxnLst/>
              <a:rect r="r" b="b" t="t" l="l"/>
              <a:pathLst>
                <a:path h="4439970" w="4439970">
                  <a:moveTo>
                    <a:pt x="0" y="0"/>
                  </a:moveTo>
                  <a:lnTo>
                    <a:pt x="4439970" y="0"/>
                  </a:lnTo>
                  <a:lnTo>
                    <a:pt x="4439970"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4" id="14"/>
          <p:cNvSpPr txBox="true"/>
          <p:nvPr/>
        </p:nvSpPr>
        <p:spPr>
          <a:xfrm rot="0">
            <a:off x="2312014" y="3466518"/>
            <a:ext cx="13663973" cy="2473277"/>
          </a:xfrm>
          <a:prstGeom prst="rect">
            <a:avLst/>
          </a:prstGeom>
        </p:spPr>
        <p:txBody>
          <a:bodyPr anchor="t" rtlCol="false" tIns="0" lIns="0" bIns="0" rIns="0">
            <a:spAutoFit/>
          </a:bodyPr>
          <a:lstStyle/>
          <a:p>
            <a:pPr algn="ctr">
              <a:lnSpc>
                <a:spcPts val="6554"/>
              </a:lnSpc>
            </a:pPr>
            <a:r>
              <a:rPr lang="en-US" b="true" sz="5003" spc="-135">
                <a:solidFill>
                  <a:srgbClr val="27403B"/>
                </a:solidFill>
                <a:latin typeface="Raleway Heavy"/>
                <a:ea typeface="Raleway Heavy"/>
                <a:cs typeface="Raleway Heavy"/>
                <a:sym typeface="Raleway Heavy"/>
              </a:rPr>
              <a:t>ETHEREUM WEEKLY VOLATILITY PREDICTION USING MARKET, SENTIMENT, AND ON-CHAIN DATA</a:t>
            </a:r>
          </a:p>
        </p:txBody>
      </p:sp>
      <p:sp>
        <p:nvSpPr>
          <p:cNvPr name="TextBox 15" id="15"/>
          <p:cNvSpPr txBox="true"/>
          <p:nvPr/>
        </p:nvSpPr>
        <p:spPr>
          <a:xfrm rot="0">
            <a:off x="6497001" y="6670848"/>
            <a:ext cx="5217116" cy="521606"/>
          </a:xfrm>
          <a:prstGeom prst="rect">
            <a:avLst/>
          </a:prstGeom>
        </p:spPr>
        <p:txBody>
          <a:bodyPr anchor="t" rtlCol="false" tIns="0" lIns="0" bIns="0" rIns="0">
            <a:spAutoFit/>
          </a:bodyPr>
          <a:lstStyle/>
          <a:p>
            <a:pPr algn="ctr">
              <a:lnSpc>
                <a:spcPts val="4325"/>
              </a:lnSpc>
            </a:pPr>
            <a:r>
              <a:rPr lang="en-US" sz="3089">
                <a:solidFill>
                  <a:srgbClr val="27403B"/>
                </a:solidFill>
                <a:latin typeface="Garet"/>
                <a:ea typeface="Garet"/>
                <a:cs typeface="Garet"/>
                <a:sym typeface="Garet"/>
              </a:rPr>
              <a:t>Yunhui Dong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1080000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solidFill>
                <a:srgbClr val="000000">
                  <a:alpha val="0"/>
                </a:srgbClr>
              </a:solidFill>
              <a:ln w="66675" cap="sq">
                <a:solidFill>
                  <a:srgbClr val="508484"/>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solidFill>
                <a:srgbClr val="000000">
                  <a:alpha val="0"/>
                </a:srgbClr>
              </a:solidFill>
              <a:ln w="66675" cap="sq">
                <a:solidFill>
                  <a:srgbClr val="7CBBBB"/>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73263"/>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solidFill>
                <a:srgbClr val="000000">
                  <a:alpha val="0"/>
                </a:srgbClr>
              </a:solidFill>
              <a:ln w="66675" cap="sq">
                <a:solidFill>
                  <a:srgbClr val="B5EFE3"/>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5400000">
              <a:off x="18828976" y="0"/>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3" id="13"/>
          <p:cNvSpPr txBox="true"/>
          <p:nvPr/>
        </p:nvSpPr>
        <p:spPr>
          <a:xfrm rot="0">
            <a:off x="1780784" y="1464534"/>
            <a:ext cx="9568755" cy="973048"/>
          </a:xfrm>
          <a:prstGeom prst="rect">
            <a:avLst/>
          </a:prstGeom>
        </p:spPr>
        <p:txBody>
          <a:bodyPr anchor="t" rtlCol="false" tIns="0" lIns="0" bIns="0" rIns="0">
            <a:spAutoFit/>
          </a:bodyPr>
          <a:lstStyle/>
          <a:p>
            <a:pPr algn="l">
              <a:lnSpc>
                <a:spcPts val="7648"/>
              </a:lnSpc>
            </a:pPr>
            <a:r>
              <a:rPr lang="en-US" b="true" sz="6320" spc="549">
                <a:solidFill>
                  <a:srgbClr val="000000"/>
                </a:solidFill>
                <a:latin typeface="Raleway Heavy"/>
                <a:ea typeface="Raleway Heavy"/>
                <a:cs typeface="Raleway Heavy"/>
                <a:sym typeface="Raleway Heavy"/>
              </a:rPr>
              <a:t>INTRODUCTION</a:t>
            </a:r>
          </a:p>
        </p:txBody>
      </p:sp>
      <p:sp>
        <p:nvSpPr>
          <p:cNvPr name="TextBox 14" id="14"/>
          <p:cNvSpPr txBox="true"/>
          <p:nvPr/>
        </p:nvSpPr>
        <p:spPr>
          <a:xfrm rot="0">
            <a:off x="1780784" y="2591955"/>
            <a:ext cx="15127399" cy="5209330"/>
          </a:xfrm>
          <a:prstGeom prst="rect">
            <a:avLst/>
          </a:prstGeom>
        </p:spPr>
        <p:txBody>
          <a:bodyPr anchor="t" rtlCol="false" tIns="0" lIns="0" bIns="0" rIns="0">
            <a:spAutoFit/>
          </a:bodyPr>
          <a:lstStyle/>
          <a:p>
            <a:pPr algn="l">
              <a:lnSpc>
                <a:spcPts val="4130"/>
              </a:lnSpc>
            </a:pPr>
            <a:r>
              <a:rPr lang="en-US" sz="2682">
                <a:solidFill>
                  <a:srgbClr val="000000"/>
                </a:solidFill>
                <a:latin typeface="Garet"/>
                <a:ea typeface="Garet"/>
                <a:cs typeface="Garet"/>
                <a:sym typeface="Garet"/>
              </a:rPr>
              <a:t>This project focuses on predicting Ethereum weekly volatility in the short term. By combining market data (ETH price from Yahoo Finance), investor sentiment (Fear &amp; Greed Index), and on-chain usage metrics (Ethereum transaction fees) over the past 500 days, we develop models to predict whether Ethereum’s price will increase in the following seven days.</a:t>
            </a:r>
          </a:p>
          <a:p>
            <a:pPr algn="l">
              <a:lnSpc>
                <a:spcPts val="4130"/>
              </a:lnSpc>
            </a:pPr>
            <a:r>
              <a:rPr lang="en-US" sz="2682">
                <a:solidFill>
                  <a:srgbClr val="000000"/>
                </a:solidFill>
                <a:latin typeface="Garet"/>
                <a:ea typeface="Garet"/>
                <a:cs typeface="Garet"/>
                <a:sym typeface="Garet"/>
              </a:rPr>
              <a:t>Though visualization and statistical analysis, the project aims to identify the most influential factors behind price movements, understand the relationships between sentiment, network activity, and market behavior, and evaluate how effectively machine learning models can capture these patterns. </a:t>
            </a:r>
          </a:p>
          <a:p>
            <a:pPr algn="l">
              <a:lnSpc>
                <a:spcPts val="4130"/>
              </a:lnSpc>
            </a:pP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10800000">
            <a:off x="41814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solidFill>
                <a:srgbClr val="000000">
                  <a:alpha val="0"/>
                </a:srgbClr>
              </a:solidFill>
              <a:ln w="66675" cap="sq">
                <a:solidFill>
                  <a:srgbClr val="508484"/>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solidFill>
                <a:srgbClr val="000000">
                  <a:alpha val="0"/>
                </a:srgbClr>
              </a:solidFill>
              <a:ln w="66675" cap="sq">
                <a:solidFill>
                  <a:srgbClr val="7CBBBB"/>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solidFill>
                <a:srgbClr val="000000">
                  <a:alpha val="0"/>
                </a:srgbClr>
              </a:solidFill>
              <a:ln w="66675" cap="sq">
                <a:solidFill>
                  <a:srgbClr val="B5EFE3"/>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grpSp>
          <p:nvGrpSpPr>
            <p:cNvPr name="Group 12" id="12"/>
            <p:cNvGrpSpPr/>
            <p:nvPr/>
          </p:nvGrpSpPr>
          <p:grpSpPr>
            <a:xfrm rot="0">
              <a:off x="0" y="0"/>
              <a:ext cx="4114800" cy="12827209"/>
              <a:chOff x="0" y="0"/>
              <a:chExt cx="812800" cy="2533770"/>
            </a:xfrm>
          </p:grpSpPr>
          <p:sp>
            <p:nvSpPr>
              <p:cNvPr name="Freeform 13" id="13"/>
              <p:cNvSpPr/>
              <p:nvPr/>
            </p:nvSpPr>
            <p:spPr>
              <a:xfrm flipH="false" flipV="false" rot="0">
                <a:off x="0" y="0"/>
                <a:ext cx="812800" cy="2533770"/>
              </a:xfrm>
              <a:custGeom>
                <a:avLst/>
                <a:gdLst/>
                <a:ahLst/>
                <a:cxnLst/>
                <a:rect r="r" b="b" t="t" l="l"/>
                <a:pathLst>
                  <a:path h="2533770" w="812800">
                    <a:moveTo>
                      <a:pt x="0" y="0"/>
                    </a:moveTo>
                    <a:lnTo>
                      <a:pt x="812800" y="0"/>
                    </a:lnTo>
                    <a:lnTo>
                      <a:pt x="812800" y="2533770"/>
                    </a:lnTo>
                    <a:lnTo>
                      <a:pt x="0" y="2533770"/>
                    </a:lnTo>
                    <a:close/>
                  </a:path>
                </a:pathLst>
              </a:custGeom>
              <a:solidFill>
                <a:srgbClr val="508484"/>
              </a:solidFill>
            </p:spPr>
          </p:sp>
          <p:sp>
            <p:nvSpPr>
              <p:cNvPr name="TextBox 14" id="14"/>
              <p:cNvSpPr txBox="true"/>
              <p:nvPr/>
            </p:nvSpPr>
            <p:spPr>
              <a:xfrm>
                <a:off x="0" y="-28575"/>
                <a:ext cx="812800" cy="2562345"/>
              </a:xfrm>
              <a:prstGeom prst="rect">
                <a:avLst/>
              </a:prstGeom>
            </p:spPr>
            <p:txBody>
              <a:bodyPr anchor="ctr" rtlCol="false" tIns="50800" lIns="50800" bIns="50800" rIns="50800"/>
              <a:lstStyle/>
              <a:p>
                <a:pPr algn="ctr">
                  <a:lnSpc>
                    <a:spcPts val="2344"/>
                  </a:lnSpc>
                </a:pPr>
              </a:p>
            </p:txBody>
          </p:sp>
        </p:grpSp>
        <p:grpSp>
          <p:nvGrpSpPr>
            <p:cNvPr name="Group 15" id="15"/>
            <p:cNvGrpSpPr/>
            <p:nvPr/>
          </p:nvGrpSpPr>
          <p:grpSpPr>
            <a:xfrm rot="0">
              <a:off x="260545" y="317890"/>
              <a:ext cx="4114800" cy="12139068"/>
              <a:chOff x="0" y="0"/>
              <a:chExt cx="812800" cy="2397841"/>
            </a:xfrm>
          </p:grpSpPr>
          <p:sp>
            <p:nvSpPr>
              <p:cNvPr name="Freeform 16" id="16"/>
              <p:cNvSpPr/>
              <p:nvPr/>
            </p:nvSpPr>
            <p:spPr>
              <a:xfrm flipH="false" flipV="false" rot="0">
                <a:off x="0" y="0"/>
                <a:ext cx="812800" cy="2397841"/>
              </a:xfrm>
              <a:custGeom>
                <a:avLst/>
                <a:gdLst/>
                <a:ahLst/>
                <a:cxnLst/>
                <a:rect r="r" b="b" t="t" l="l"/>
                <a:pathLst>
                  <a:path h="2397841" w="812800">
                    <a:moveTo>
                      <a:pt x="0" y="0"/>
                    </a:moveTo>
                    <a:lnTo>
                      <a:pt x="812800" y="0"/>
                    </a:lnTo>
                    <a:lnTo>
                      <a:pt x="812800" y="2397841"/>
                    </a:lnTo>
                    <a:lnTo>
                      <a:pt x="0" y="2397841"/>
                    </a:lnTo>
                    <a:close/>
                  </a:path>
                </a:pathLst>
              </a:custGeom>
              <a:solidFill>
                <a:srgbClr val="7CBBBB"/>
              </a:solidFill>
            </p:spPr>
          </p:sp>
          <p:sp>
            <p:nvSpPr>
              <p:cNvPr name="TextBox 17" id="17"/>
              <p:cNvSpPr txBox="true"/>
              <p:nvPr/>
            </p:nvSpPr>
            <p:spPr>
              <a:xfrm>
                <a:off x="0" y="-28575"/>
                <a:ext cx="812800" cy="2426416"/>
              </a:xfrm>
              <a:prstGeom prst="rect">
                <a:avLst/>
              </a:prstGeom>
            </p:spPr>
            <p:txBody>
              <a:bodyPr anchor="ctr" rtlCol="false" tIns="50800" lIns="50800" bIns="50800" rIns="50800"/>
              <a:lstStyle/>
              <a:p>
                <a:pPr algn="ctr">
                  <a:lnSpc>
                    <a:spcPts val="2344"/>
                  </a:lnSpc>
                </a:pPr>
              </a:p>
            </p:txBody>
          </p:sp>
        </p:grpSp>
        <p:grpSp>
          <p:nvGrpSpPr>
            <p:cNvPr name="Group 18" id="18"/>
            <p:cNvGrpSpPr/>
            <p:nvPr/>
          </p:nvGrpSpPr>
          <p:grpSpPr>
            <a:xfrm rot="0">
              <a:off x="607108" y="689043"/>
              <a:ext cx="4172145" cy="11422256"/>
              <a:chOff x="0" y="0"/>
              <a:chExt cx="824127" cy="2256248"/>
            </a:xfrm>
          </p:grpSpPr>
          <p:sp>
            <p:nvSpPr>
              <p:cNvPr name="Freeform 19" id="19"/>
              <p:cNvSpPr/>
              <p:nvPr/>
            </p:nvSpPr>
            <p:spPr>
              <a:xfrm flipH="false" flipV="false" rot="0">
                <a:off x="0" y="0"/>
                <a:ext cx="824127" cy="2256248"/>
              </a:xfrm>
              <a:custGeom>
                <a:avLst/>
                <a:gdLst/>
                <a:ahLst/>
                <a:cxnLst/>
                <a:rect r="r" b="b" t="t" l="l"/>
                <a:pathLst>
                  <a:path h="2256248" w="824127">
                    <a:moveTo>
                      <a:pt x="0" y="0"/>
                    </a:moveTo>
                    <a:lnTo>
                      <a:pt x="824127" y="0"/>
                    </a:lnTo>
                    <a:lnTo>
                      <a:pt x="824127" y="2256248"/>
                    </a:lnTo>
                    <a:lnTo>
                      <a:pt x="0" y="2256248"/>
                    </a:lnTo>
                    <a:close/>
                  </a:path>
                </a:pathLst>
              </a:custGeom>
              <a:solidFill>
                <a:srgbClr val="B5EFE3"/>
              </a:solidFill>
            </p:spPr>
          </p:sp>
          <p:sp>
            <p:nvSpPr>
              <p:cNvPr name="TextBox 20" id="20"/>
              <p:cNvSpPr txBox="true"/>
              <p:nvPr/>
            </p:nvSpPr>
            <p:spPr>
              <a:xfrm>
                <a:off x="0" y="-28575"/>
                <a:ext cx="824127" cy="2284823"/>
              </a:xfrm>
              <a:prstGeom prst="rect">
                <a:avLst/>
              </a:prstGeom>
            </p:spPr>
            <p:txBody>
              <a:bodyPr anchor="ctr" rtlCol="false" tIns="50800" lIns="50800" bIns="50800" rIns="50800"/>
              <a:lstStyle/>
              <a:p>
                <a:pPr algn="ctr">
                  <a:lnSpc>
                    <a:spcPts val="2344"/>
                  </a:lnSpc>
                </a:pPr>
              </a:p>
            </p:txBody>
          </p:sp>
        </p:grpSp>
      </p:grpSp>
      <p:graphicFrame>
        <p:nvGraphicFramePr>
          <p:cNvPr name="Table 21" id="21"/>
          <p:cNvGraphicFramePr>
            <a:graphicFrameLocks noGrp="true"/>
          </p:cNvGraphicFramePr>
          <p:nvPr/>
        </p:nvGraphicFramePr>
        <p:xfrm>
          <a:off x="1910762" y="3086100"/>
          <a:ext cx="10960514" cy="4915077"/>
        </p:xfrm>
        <a:graphic>
          <a:graphicData uri="http://schemas.openxmlformats.org/drawingml/2006/table">
            <a:tbl>
              <a:tblPr/>
              <a:tblGrid>
                <a:gridCol w="2869555"/>
                <a:gridCol w="1876552"/>
                <a:gridCol w="3495755"/>
                <a:gridCol w="2718652"/>
              </a:tblGrid>
              <a:tr h="854526">
                <a:tc>
                  <a:txBody>
                    <a:bodyPr anchor="t" rtlCol="false"/>
                    <a:lstStyle/>
                    <a:p>
                      <a:pPr algn="ctr">
                        <a:lnSpc>
                          <a:spcPts val="2344"/>
                        </a:lnSpc>
                        <a:defRPr/>
                      </a:pPr>
                      <a:r>
                        <a:rPr lang="en-US" sz="1674" b="true">
                          <a:solidFill>
                            <a:srgbClr val="000000"/>
                          </a:solidFill>
                          <a:latin typeface="Montserrat Bold"/>
                          <a:ea typeface="Montserrat Bold"/>
                          <a:cs typeface="Montserrat Bold"/>
                          <a:sym typeface="Montserrat Bold"/>
                        </a:rPr>
                        <a:t>Type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b="true">
                          <a:solidFill>
                            <a:srgbClr val="000000"/>
                          </a:solidFill>
                          <a:latin typeface="Montserrat Bold"/>
                          <a:ea typeface="Montserrat Bold"/>
                          <a:cs typeface="Montserrat Bold"/>
                          <a:sym typeface="Montserrat Bold"/>
                        </a:rPr>
                        <a:t>Dataset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b="true">
                          <a:solidFill>
                            <a:srgbClr val="000000"/>
                          </a:solidFill>
                          <a:latin typeface="Montserrat Bold"/>
                          <a:ea typeface="Montserrat Bold"/>
                          <a:cs typeface="Montserrat Bold"/>
                          <a:sym typeface="Montserrat Bold"/>
                        </a:rPr>
                        <a:t>Description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b="true">
                          <a:solidFill>
                            <a:srgbClr val="000000"/>
                          </a:solidFill>
                          <a:latin typeface="Montserrat Bold"/>
                          <a:ea typeface="Montserrat Bold"/>
                          <a:cs typeface="Montserrat Bold"/>
                          <a:sym typeface="Montserrat Bold"/>
                        </a:rPr>
                        <a:t>Purpose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3517">
                <a:tc>
                  <a:txBody>
                    <a:bodyPr anchor="t" rtlCol="false"/>
                    <a:lstStyle/>
                    <a:p>
                      <a:pPr algn="ctr">
                        <a:lnSpc>
                          <a:spcPts val="2344"/>
                        </a:lnSpc>
                        <a:defRPr/>
                      </a:pPr>
                      <a:r>
                        <a:rPr lang="en-US" sz="1674">
                          <a:solidFill>
                            <a:srgbClr val="000000"/>
                          </a:solidFill>
                          <a:latin typeface="Montserrat"/>
                          <a:ea typeface="Montserrat"/>
                          <a:cs typeface="Montserrat"/>
                          <a:sym typeface="Montserrat"/>
                        </a:rPr>
                        <a:t>API 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ETH price from Yahoo Finance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Daily Ethereum price data, including Close, High, Low, Open, Volume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Capture market behavior </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3517">
                <a:tc>
                  <a:txBody>
                    <a:bodyPr anchor="t" rtlCol="false"/>
                    <a:lstStyle/>
                    <a:p>
                      <a:pPr algn="ctr">
                        <a:lnSpc>
                          <a:spcPts val="2344"/>
                        </a:lnSpc>
                        <a:defRPr/>
                      </a:pPr>
                      <a:r>
                        <a:rPr lang="en-US" sz="1674">
                          <a:solidFill>
                            <a:srgbClr val="000000"/>
                          </a:solidFill>
                          <a:latin typeface="Montserrat"/>
                          <a:ea typeface="Montserrat"/>
                          <a:cs typeface="Montserrat"/>
                          <a:sym typeface="Montserrat"/>
                        </a:rPr>
                        <a:t>API 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Fear &amp; Greed Index from CoinMarketCap</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Daily fear &amp; greed index, including Value(fear &amp; greed index), Value_classification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 Quantify market sentiment</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r h="1353517">
                <a:tc>
                  <a:txBody>
                    <a:bodyPr anchor="t" rtlCol="false"/>
                    <a:lstStyle/>
                    <a:p>
                      <a:pPr algn="ctr">
                        <a:lnSpc>
                          <a:spcPts val="2344"/>
                        </a:lnSpc>
                        <a:defRPr/>
                      </a:pPr>
                      <a:r>
                        <a:rPr lang="en-US" sz="1674">
                          <a:solidFill>
                            <a:srgbClr val="000000"/>
                          </a:solidFill>
                          <a:latin typeface="Montserrat"/>
                          <a:ea typeface="Montserrat"/>
                          <a:cs typeface="Montserrat"/>
                          <a:sym typeface="Montserrat"/>
                        </a:rPr>
                        <a:t>API Call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Ethereum transaction fees from DefiLlama</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Daily total transaction fees, including Value(transaction fees)</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c>
                  <a:txBody>
                    <a:bodyPr anchor="t" rtlCol="false"/>
                    <a:lstStyle/>
                    <a:p>
                      <a:pPr algn="ctr">
                        <a:lnSpc>
                          <a:spcPts val="2344"/>
                        </a:lnSpc>
                        <a:defRPr/>
                      </a:pPr>
                      <a:r>
                        <a:rPr lang="en-US" sz="1674">
                          <a:solidFill>
                            <a:srgbClr val="000000"/>
                          </a:solidFill>
                          <a:latin typeface="Montserrat"/>
                          <a:ea typeface="Montserrat"/>
                          <a:cs typeface="Montserrat"/>
                          <a:sym typeface="Montserrat"/>
                        </a:rPr>
                        <a:t>Represent on-chain activity and network usage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tcPr>
                </a:tc>
              </a:tr>
            </a:tbl>
          </a:graphicData>
        </a:graphic>
      </p:graphicFrame>
      <p:sp>
        <p:nvSpPr>
          <p:cNvPr name="TextBox 22" id="22"/>
          <p:cNvSpPr txBox="true"/>
          <p:nvPr/>
        </p:nvSpPr>
        <p:spPr>
          <a:xfrm rot="0">
            <a:off x="1910762" y="1188582"/>
            <a:ext cx="7564620" cy="1075300"/>
          </a:xfrm>
          <a:prstGeom prst="rect">
            <a:avLst/>
          </a:prstGeom>
        </p:spPr>
        <p:txBody>
          <a:bodyPr anchor="t" rtlCol="false" tIns="0" lIns="0" bIns="0" rIns="0">
            <a:spAutoFit/>
          </a:bodyPr>
          <a:lstStyle/>
          <a:p>
            <a:pPr algn="l">
              <a:lnSpc>
                <a:spcPts val="8396"/>
              </a:lnSpc>
            </a:pPr>
            <a:r>
              <a:rPr lang="en-US" b="true" sz="7365" spc="44">
                <a:solidFill>
                  <a:srgbClr val="27403B"/>
                </a:solidFill>
                <a:latin typeface="Raleway Heavy"/>
                <a:ea typeface="Raleway Heavy"/>
                <a:cs typeface="Raleway Heavy"/>
                <a:sym typeface="Raleway Heavy"/>
              </a:rPr>
              <a:t>DATA SOURCE</a:t>
            </a:r>
          </a:p>
        </p:txBody>
      </p:sp>
      <p:sp>
        <p:nvSpPr>
          <p:cNvPr name="TextBox 23" id="23"/>
          <p:cNvSpPr txBox="true"/>
          <p:nvPr/>
        </p:nvSpPr>
        <p:spPr>
          <a:xfrm rot="0">
            <a:off x="1910762" y="2357837"/>
            <a:ext cx="4748659" cy="363868"/>
          </a:xfrm>
          <a:prstGeom prst="rect">
            <a:avLst/>
          </a:prstGeom>
        </p:spPr>
        <p:txBody>
          <a:bodyPr anchor="t" rtlCol="false" tIns="0" lIns="0" bIns="0" rIns="0">
            <a:spAutoFit/>
          </a:bodyPr>
          <a:lstStyle/>
          <a:p>
            <a:pPr algn="l">
              <a:lnSpc>
                <a:spcPts val="3044"/>
              </a:lnSpc>
              <a:spcBef>
                <a:spcPct val="0"/>
              </a:spcBef>
            </a:pPr>
            <a:r>
              <a:rPr lang="en-US" sz="2174">
                <a:solidFill>
                  <a:srgbClr val="27403B"/>
                </a:solidFill>
                <a:latin typeface="Montserrat"/>
                <a:ea typeface="Montserrat"/>
                <a:cs typeface="Montserrat"/>
                <a:sym typeface="Montserrat"/>
              </a:rPr>
              <a:t>Date Range: most recent 500 days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sp>
        <p:nvSpPr>
          <p:cNvPr name="Freeform 2" id="2"/>
          <p:cNvSpPr/>
          <p:nvPr/>
        </p:nvSpPr>
        <p:spPr>
          <a:xfrm flipH="false" flipV="false" rot="0">
            <a:off x="9144000" y="0"/>
            <a:ext cx="9144000" cy="3268980"/>
          </a:xfrm>
          <a:custGeom>
            <a:avLst/>
            <a:gdLst/>
            <a:ahLst/>
            <a:cxnLst/>
            <a:rect r="r" b="b" t="t" l="l"/>
            <a:pathLst>
              <a:path h="3268980" w="9144000">
                <a:moveTo>
                  <a:pt x="0" y="0"/>
                </a:moveTo>
                <a:lnTo>
                  <a:pt x="9144000" y="0"/>
                </a:lnTo>
                <a:lnTo>
                  <a:pt x="9144000" y="3268980"/>
                </a:lnTo>
                <a:lnTo>
                  <a:pt x="0" y="3268980"/>
                </a:lnTo>
                <a:lnTo>
                  <a:pt x="0" y="0"/>
                </a:lnTo>
                <a:close/>
              </a:path>
            </a:pathLst>
          </a:custGeom>
          <a:blipFill>
            <a:blip r:embed="rId2"/>
            <a:stretch>
              <a:fillRect l="0" t="0" r="0" b="0"/>
            </a:stretch>
          </a:blipFill>
        </p:spPr>
      </p:sp>
      <p:sp>
        <p:nvSpPr>
          <p:cNvPr name="Freeform 3" id="3"/>
          <p:cNvSpPr/>
          <p:nvPr/>
        </p:nvSpPr>
        <p:spPr>
          <a:xfrm flipH="false" flipV="false" rot="0">
            <a:off x="9144000" y="3268980"/>
            <a:ext cx="9144000" cy="3268980"/>
          </a:xfrm>
          <a:custGeom>
            <a:avLst/>
            <a:gdLst/>
            <a:ahLst/>
            <a:cxnLst/>
            <a:rect r="r" b="b" t="t" l="l"/>
            <a:pathLst>
              <a:path h="3268980" w="9144000">
                <a:moveTo>
                  <a:pt x="0" y="0"/>
                </a:moveTo>
                <a:lnTo>
                  <a:pt x="9144000" y="0"/>
                </a:lnTo>
                <a:lnTo>
                  <a:pt x="9144000" y="3268980"/>
                </a:lnTo>
                <a:lnTo>
                  <a:pt x="0" y="3268980"/>
                </a:lnTo>
                <a:lnTo>
                  <a:pt x="0" y="0"/>
                </a:lnTo>
                <a:close/>
              </a:path>
            </a:pathLst>
          </a:custGeom>
          <a:blipFill>
            <a:blip r:embed="rId3"/>
            <a:stretch>
              <a:fillRect l="0" t="0" r="0" b="0"/>
            </a:stretch>
          </a:blipFill>
        </p:spPr>
      </p:sp>
      <p:sp>
        <p:nvSpPr>
          <p:cNvPr name="Freeform 4" id="4"/>
          <p:cNvSpPr/>
          <p:nvPr/>
        </p:nvSpPr>
        <p:spPr>
          <a:xfrm flipH="false" flipV="false" rot="0">
            <a:off x="9144000" y="6537960"/>
            <a:ext cx="9144000" cy="3268980"/>
          </a:xfrm>
          <a:custGeom>
            <a:avLst/>
            <a:gdLst/>
            <a:ahLst/>
            <a:cxnLst/>
            <a:rect r="r" b="b" t="t" l="l"/>
            <a:pathLst>
              <a:path h="3268980" w="9144000">
                <a:moveTo>
                  <a:pt x="0" y="0"/>
                </a:moveTo>
                <a:lnTo>
                  <a:pt x="9144000" y="0"/>
                </a:lnTo>
                <a:lnTo>
                  <a:pt x="9144000" y="3268980"/>
                </a:lnTo>
                <a:lnTo>
                  <a:pt x="0" y="3268980"/>
                </a:lnTo>
                <a:lnTo>
                  <a:pt x="0" y="0"/>
                </a:lnTo>
                <a:close/>
              </a:path>
            </a:pathLst>
          </a:custGeom>
          <a:blipFill>
            <a:blip r:embed="rId4"/>
            <a:stretch>
              <a:fillRect l="0" t="0" r="0" b="0"/>
            </a:stretch>
          </a:blipFill>
        </p:spPr>
      </p:sp>
      <p:sp>
        <p:nvSpPr>
          <p:cNvPr name="TextBox 5" id="5"/>
          <p:cNvSpPr txBox="true"/>
          <p:nvPr/>
        </p:nvSpPr>
        <p:spPr>
          <a:xfrm rot="0">
            <a:off x="1028700" y="184667"/>
            <a:ext cx="7564620" cy="844033"/>
          </a:xfrm>
          <a:prstGeom prst="rect">
            <a:avLst/>
          </a:prstGeom>
        </p:spPr>
        <p:txBody>
          <a:bodyPr anchor="t" rtlCol="false" tIns="0" lIns="0" bIns="0" rIns="0">
            <a:spAutoFit/>
          </a:bodyPr>
          <a:lstStyle/>
          <a:p>
            <a:pPr algn="l">
              <a:lnSpc>
                <a:spcPts val="6572"/>
              </a:lnSpc>
            </a:pPr>
            <a:r>
              <a:rPr lang="en-US" b="true" sz="5765" spc="34">
                <a:solidFill>
                  <a:srgbClr val="27403B"/>
                </a:solidFill>
                <a:latin typeface="Raleway Heavy"/>
                <a:ea typeface="Raleway Heavy"/>
                <a:cs typeface="Raleway Heavy"/>
                <a:sym typeface="Raleway Heavy"/>
              </a:rPr>
              <a:t>OVERVIEW</a:t>
            </a:r>
          </a:p>
        </p:txBody>
      </p:sp>
      <p:sp>
        <p:nvSpPr>
          <p:cNvPr name="TextBox 6" id="6"/>
          <p:cNvSpPr txBox="true"/>
          <p:nvPr/>
        </p:nvSpPr>
        <p:spPr>
          <a:xfrm rot="0">
            <a:off x="712630" y="1185532"/>
            <a:ext cx="3282287" cy="448958"/>
          </a:xfrm>
          <a:prstGeom prst="rect">
            <a:avLst/>
          </a:prstGeom>
        </p:spPr>
        <p:txBody>
          <a:bodyPr anchor="t" rtlCol="false" tIns="0" lIns="0" bIns="0" rIns="0">
            <a:spAutoFit/>
          </a:bodyPr>
          <a:lstStyle/>
          <a:p>
            <a:pPr algn="l" marL="555833" indent="-277917" lvl="1">
              <a:lnSpc>
                <a:spcPts val="3604"/>
              </a:lnSpc>
              <a:buFont typeface="Arial"/>
              <a:buChar char="•"/>
            </a:pPr>
            <a:r>
              <a:rPr lang="en-US" b="true" sz="2574">
                <a:solidFill>
                  <a:srgbClr val="27403B"/>
                </a:solidFill>
                <a:latin typeface="Montserrat Bold"/>
                <a:ea typeface="Montserrat Bold"/>
                <a:cs typeface="Montserrat Bold"/>
                <a:sym typeface="Montserrat Bold"/>
              </a:rPr>
              <a:t>Ethereum Price</a:t>
            </a:r>
          </a:p>
        </p:txBody>
      </p:sp>
      <p:sp>
        <p:nvSpPr>
          <p:cNvPr name="TextBox 7" id="7"/>
          <p:cNvSpPr txBox="true"/>
          <p:nvPr/>
        </p:nvSpPr>
        <p:spPr>
          <a:xfrm rot="0">
            <a:off x="712630" y="3873672"/>
            <a:ext cx="3873935" cy="448958"/>
          </a:xfrm>
          <a:prstGeom prst="rect">
            <a:avLst/>
          </a:prstGeom>
        </p:spPr>
        <p:txBody>
          <a:bodyPr anchor="t" rtlCol="false" tIns="0" lIns="0" bIns="0" rIns="0">
            <a:spAutoFit/>
          </a:bodyPr>
          <a:lstStyle/>
          <a:p>
            <a:pPr algn="l" marL="555833" indent="-277917" lvl="1">
              <a:lnSpc>
                <a:spcPts val="3604"/>
              </a:lnSpc>
              <a:buFont typeface="Arial"/>
              <a:buChar char="•"/>
            </a:pPr>
            <a:r>
              <a:rPr lang="en-US" b="true" sz="2574">
                <a:solidFill>
                  <a:srgbClr val="27403B"/>
                </a:solidFill>
                <a:latin typeface="Montserrat Bold"/>
                <a:ea typeface="Montserrat Bold"/>
                <a:cs typeface="Montserrat Bold"/>
                <a:sym typeface="Montserrat Bold"/>
              </a:rPr>
              <a:t>Fear &amp; Greed Index</a:t>
            </a:r>
          </a:p>
        </p:txBody>
      </p:sp>
      <p:sp>
        <p:nvSpPr>
          <p:cNvPr name="TextBox 8" id="8"/>
          <p:cNvSpPr txBox="true"/>
          <p:nvPr/>
        </p:nvSpPr>
        <p:spPr>
          <a:xfrm rot="0">
            <a:off x="712630" y="6559752"/>
            <a:ext cx="3873935" cy="448958"/>
          </a:xfrm>
          <a:prstGeom prst="rect">
            <a:avLst/>
          </a:prstGeom>
        </p:spPr>
        <p:txBody>
          <a:bodyPr anchor="t" rtlCol="false" tIns="0" lIns="0" bIns="0" rIns="0">
            <a:spAutoFit/>
          </a:bodyPr>
          <a:lstStyle/>
          <a:p>
            <a:pPr algn="just" marL="555833" indent="-277917" lvl="1">
              <a:lnSpc>
                <a:spcPts val="3604"/>
              </a:lnSpc>
              <a:buFont typeface="Arial"/>
              <a:buChar char="•"/>
            </a:pPr>
            <a:r>
              <a:rPr lang="en-US" b="true" sz="2574">
                <a:solidFill>
                  <a:srgbClr val="27403B"/>
                </a:solidFill>
                <a:latin typeface="Montserrat Bold"/>
                <a:ea typeface="Montserrat Bold"/>
                <a:cs typeface="Montserrat Bold"/>
                <a:sym typeface="Montserrat Bold"/>
              </a:rPr>
              <a:t>Transaction Fees</a:t>
            </a:r>
          </a:p>
        </p:txBody>
      </p:sp>
      <p:sp>
        <p:nvSpPr>
          <p:cNvPr name="TextBox 9" id="9"/>
          <p:cNvSpPr txBox="true"/>
          <p:nvPr/>
        </p:nvSpPr>
        <p:spPr>
          <a:xfrm rot="0">
            <a:off x="1097289" y="1655601"/>
            <a:ext cx="8046711" cy="2065672"/>
          </a:xfrm>
          <a:prstGeom prst="rect">
            <a:avLst/>
          </a:prstGeom>
        </p:spPr>
        <p:txBody>
          <a:bodyPr anchor="t" rtlCol="false" tIns="0" lIns="0" bIns="0" rIns="0">
            <a:spAutoFit/>
          </a:bodyPr>
          <a:lstStyle/>
          <a:p>
            <a:pPr algn="l">
              <a:lnSpc>
                <a:spcPts val="4130"/>
              </a:lnSpc>
            </a:pPr>
            <a:r>
              <a:rPr lang="en-US" sz="2682">
                <a:solidFill>
                  <a:srgbClr val="000000"/>
                </a:solidFill>
                <a:latin typeface="Garet"/>
                <a:ea typeface="Garet"/>
                <a:cs typeface="Garet"/>
                <a:sym typeface="Garet"/>
              </a:rPr>
              <a:t>ETH experienced large fluctuations over the 500-day period, dropping sharply in early 2025, rebounding strongly mid-year and entering another decline toward late 2025.</a:t>
            </a:r>
          </a:p>
        </p:txBody>
      </p:sp>
      <p:sp>
        <p:nvSpPr>
          <p:cNvPr name="TextBox 10" id="10"/>
          <p:cNvSpPr txBox="true"/>
          <p:nvPr/>
        </p:nvSpPr>
        <p:spPr>
          <a:xfrm rot="0">
            <a:off x="1028700" y="4341680"/>
            <a:ext cx="8046711" cy="2065672"/>
          </a:xfrm>
          <a:prstGeom prst="rect">
            <a:avLst/>
          </a:prstGeom>
        </p:spPr>
        <p:txBody>
          <a:bodyPr anchor="t" rtlCol="false" tIns="0" lIns="0" bIns="0" rIns="0">
            <a:spAutoFit/>
          </a:bodyPr>
          <a:lstStyle/>
          <a:p>
            <a:pPr algn="l">
              <a:lnSpc>
                <a:spcPts val="4130"/>
              </a:lnSpc>
            </a:pPr>
            <a:r>
              <a:rPr lang="en-US" sz="2682">
                <a:solidFill>
                  <a:srgbClr val="000000"/>
                </a:solidFill>
                <a:latin typeface="Garet"/>
                <a:ea typeface="Garet"/>
                <a:cs typeface="Garet"/>
                <a:sym typeface="Garet"/>
              </a:rPr>
              <a:t>Investor sentiment showed repeated cycles of fear and greed, with sharp dips often aligning with market pullbacks and steady recoveries during price rebounds.</a:t>
            </a:r>
          </a:p>
        </p:txBody>
      </p:sp>
      <p:sp>
        <p:nvSpPr>
          <p:cNvPr name="TextBox 11" id="11"/>
          <p:cNvSpPr txBox="true"/>
          <p:nvPr/>
        </p:nvSpPr>
        <p:spPr>
          <a:xfrm rot="0">
            <a:off x="1028700" y="7027760"/>
            <a:ext cx="8046711" cy="2065672"/>
          </a:xfrm>
          <a:prstGeom prst="rect">
            <a:avLst/>
          </a:prstGeom>
        </p:spPr>
        <p:txBody>
          <a:bodyPr anchor="t" rtlCol="false" tIns="0" lIns="0" bIns="0" rIns="0">
            <a:spAutoFit/>
          </a:bodyPr>
          <a:lstStyle/>
          <a:p>
            <a:pPr algn="l">
              <a:lnSpc>
                <a:spcPts val="4130"/>
              </a:lnSpc>
            </a:pPr>
            <a:r>
              <a:rPr lang="en-US" sz="2682">
                <a:solidFill>
                  <a:srgbClr val="000000"/>
                </a:solidFill>
                <a:latin typeface="Garet"/>
                <a:ea typeface="Garet"/>
                <a:cs typeface="Garet"/>
                <a:sym typeface="Garet"/>
              </a:rPr>
              <a:t>Daily transaction fees fluctuated heavily indicating several periods of intense on-chain activity (often preceding short-term volatility in ETH price).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sp>
        <p:nvSpPr>
          <p:cNvPr name="Freeform 2" id="2"/>
          <p:cNvSpPr/>
          <p:nvPr/>
        </p:nvSpPr>
        <p:spPr>
          <a:xfrm flipH="false" flipV="false" rot="0">
            <a:off x="-785477" y="2592904"/>
            <a:ext cx="6861387" cy="5146041"/>
          </a:xfrm>
          <a:custGeom>
            <a:avLst/>
            <a:gdLst/>
            <a:ahLst/>
            <a:cxnLst/>
            <a:rect r="r" b="b" t="t" l="l"/>
            <a:pathLst>
              <a:path h="5146041" w="6861387">
                <a:moveTo>
                  <a:pt x="0" y="0"/>
                </a:moveTo>
                <a:lnTo>
                  <a:pt x="6861387" y="0"/>
                </a:lnTo>
                <a:lnTo>
                  <a:pt x="6861387" y="5146041"/>
                </a:lnTo>
                <a:lnTo>
                  <a:pt x="0" y="5146041"/>
                </a:lnTo>
                <a:lnTo>
                  <a:pt x="0" y="0"/>
                </a:lnTo>
                <a:close/>
              </a:path>
            </a:pathLst>
          </a:custGeom>
          <a:blipFill>
            <a:blip r:embed="rId2"/>
            <a:stretch>
              <a:fillRect l="0" t="0" r="0" b="0"/>
            </a:stretch>
          </a:blipFill>
        </p:spPr>
      </p:sp>
      <p:sp>
        <p:nvSpPr>
          <p:cNvPr name="Freeform 3" id="3"/>
          <p:cNvSpPr/>
          <p:nvPr/>
        </p:nvSpPr>
        <p:spPr>
          <a:xfrm flipH="false" flipV="false" rot="0">
            <a:off x="6152110" y="2592904"/>
            <a:ext cx="5983779" cy="5131091"/>
          </a:xfrm>
          <a:custGeom>
            <a:avLst/>
            <a:gdLst/>
            <a:ahLst/>
            <a:cxnLst/>
            <a:rect r="r" b="b" t="t" l="l"/>
            <a:pathLst>
              <a:path h="5131091" w="5983779">
                <a:moveTo>
                  <a:pt x="0" y="0"/>
                </a:moveTo>
                <a:lnTo>
                  <a:pt x="5983780" y="0"/>
                </a:lnTo>
                <a:lnTo>
                  <a:pt x="5983780" y="5131091"/>
                </a:lnTo>
                <a:lnTo>
                  <a:pt x="0" y="5131091"/>
                </a:lnTo>
                <a:lnTo>
                  <a:pt x="0" y="0"/>
                </a:lnTo>
                <a:close/>
              </a:path>
            </a:pathLst>
          </a:custGeom>
          <a:blipFill>
            <a:blip r:embed="rId3"/>
            <a:stretch>
              <a:fillRect l="0" t="0" r="0" b="0"/>
            </a:stretch>
          </a:blipFill>
        </p:spPr>
      </p:sp>
      <p:sp>
        <p:nvSpPr>
          <p:cNvPr name="Freeform 4" id="4"/>
          <p:cNvSpPr/>
          <p:nvPr/>
        </p:nvSpPr>
        <p:spPr>
          <a:xfrm flipH="false" flipV="false" rot="0">
            <a:off x="12215293" y="2585429"/>
            <a:ext cx="5983779" cy="5131091"/>
          </a:xfrm>
          <a:custGeom>
            <a:avLst/>
            <a:gdLst/>
            <a:ahLst/>
            <a:cxnLst/>
            <a:rect r="r" b="b" t="t" l="l"/>
            <a:pathLst>
              <a:path h="5131091" w="5983779">
                <a:moveTo>
                  <a:pt x="0" y="0"/>
                </a:moveTo>
                <a:lnTo>
                  <a:pt x="5983780" y="0"/>
                </a:lnTo>
                <a:lnTo>
                  <a:pt x="5983780" y="5131091"/>
                </a:lnTo>
                <a:lnTo>
                  <a:pt x="0" y="5131091"/>
                </a:lnTo>
                <a:lnTo>
                  <a:pt x="0" y="0"/>
                </a:lnTo>
                <a:close/>
              </a:path>
            </a:pathLst>
          </a:custGeom>
          <a:blipFill>
            <a:blip r:embed="rId4"/>
            <a:stretch>
              <a:fillRect l="0" t="0" r="0" b="0"/>
            </a:stretch>
          </a:blipFill>
        </p:spPr>
      </p:sp>
      <p:sp>
        <p:nvSpPr>
          <p:cNvPr name="TextBox 5" id="5"/>
          <p:cNvSpPr txBox="true"/>
          <p:nvPr/>
        </p:nvSpPr>
        <p:spPr>
          <a:xfrm rot="0">
            <a:off x="1028700" y="620971"/>
            <a:ext cx="15542322" cy="813935"/>
          </a:xfrm>
          <a:prstGeom prst="rect">
            <a:avLst/>
          </a:prstGeom>
        </p:spPr>
        <p:txBody>
          <a:bodyPr anchor="t" rtlCol="false" tIns="0" lIns="0" bIns="0" rIns="0">
            <a:spAutoFit/>
          </a:bodyPr>
          <a:lstStyle/>
          <a:p>
            <a:pPr algn="l">
              <a:lnSpc>
                <a:spcPts val="6344"/>
              </a:lnSpc>
            </a:pPr>
            <a:r>
              <a:rPr lang="en-US" b="true" sz="5565" spc="33">
                <a:solidFill>
                  <a:srgbClr val="27403B"/>
                </a:solidFill>
                <a:latin typeface="Raleway Heavy"/>
                <a:ea typeface="Raleway Heavy"/>
                <a:cs typeface="Raleway Heavy"/>
                <a:sym typeface="Raleway Heavy"/>
              </a:rPr>
              <a:t>MODEL FEATURES &amp; PREDICTIVE POWER</a:t>
            </a:r>
          </a:p>
        </p:txBody>
      </p:sp>
      <p:sp>
        <p:nvSpPr>
          <p:cNvPr name="TextBox 6" id="6"/>
          <p:cNvSpPr txBox="true"/>
          <p:nvPr/>
        </p:nvSpPr>
        <p:spPr>
          <a:xfrm rot="0">
            <a:off x="741483" y="8236228"/>
            <a:ext cx="16805035" cy="1557456"/>
          </a:xfrm>
          <a:prstGeom prst="rect">
            <a:avLst/>
          </a:prstGeom>
        </p:spPr>
        <p:txBody>
          <a:bodyPr anchor="t" rtlCol="false" tIns="0" lIns="0" bIns="0" rIns="0">
            <a:spAutoFit/>
          </a:bodyPr>
          <a:lstStyle/>
          <a:p>
            <a:pPr algn="l" marL="441443" indent="-220721" lvl="1">
              <a:lnSpc>
                <a:spcPts val="3148"/>
              </a:lnSpc>
              <a:buFont typeface="Arial"/>
              <a:buChar char="•"/>
            </a:pPr>
            <a:r>
              <a:rPr lang="en-US" sz="2044">
                <a:solidFill>
                  <a:srgbClr val="000000"/>
                </a:solidFill>
                <a:latin typeface="Garet"/>
                <a:ea typeface="Garet"/>
                <a:cs typeface="Garet"/>
                <a:sym typeface="Garet"/>
              </a:rPr>
              <a:t>On-chain and sentiment signals (MA7 fees, MA7 FG, volatility) rank among the strongest predictors.</a:t>
            </a:r>
          </a:p>
          <a:p>
            <a:pPr algn="l" marL="441441" indent="-220721" lvl="1">
              <a:lnSpc>
                <a:spcPts val="3148"/>
              </a:lnSpc>
              <a:buFont typeface="Arial"/>
              <a:buChar char="•"/>
            </a:pPr>
            <a:r>
              <a:rPr lang="en-US" sz="2044">
                <a:solidFill>
                  <a:srgbClr val="000000"/>
                </a:solidFill>
                <a:latin typeface="Garet"/>
                <a:ea typeface="Garet"/>
                <a:cs typeface="Garet"/>
                <a:sym typeface="Garet"/>
              </a:rPr>
              <a:t>Random Forest captures non-linear relationships, while Logistic Regression reveals weak but interpretable linear effects.</a:t>
            </a:r>
          </a:p>
          <a:p>
            <a:pPr algn="l" marL="441443" indent="-220721" lvl="1">
              <a:lnSpc>
                <a:spcPts val="3148"/>
              </a:lnSpc>
              <a:buFont typeface="Arial"/>
              <a:buChar char="•"/>
            </a:pPr>
            <a:r>
              <a:rPr lang="en-US" sz="2044">
                <a:solidFill>
                  <a:srgbClr val="000000"/>
                </a:solidFill>
                <a:latin typeface="Garet"/>
                <a:ea typeface="Garet"/>
                <a:cs typeface="Garet"/>
                <a:sym typeface="Garet"/>
              </a:rPr>
              <a:t>Confusion matrix shows the difficulty of predicting ‘up’ weeks.</a:t>
            </a:r>
          </a:p>
          <a:p>
            <a:pPr algn="l">
              <a:lnSpc>
                <a:spcPts val="3148"/>
              </a:lnSpc>
            </a:pPr>
          </a:p>
        </p:txBody>
      </p:sp>
      <p:sp>
        <p:nvSpPr>
          <p:cNvPr name="TextBox 7" id="7"/>
          <p:cNvSpPr txBox="true"/>
          <p:nvPr/>
        </p:nvSpPr>
        <p:spPr>
          <a:xfrm rot="0">
            <a:off x="1028700" y="1493579"/>
            <a:ext cx="15542322" cy="813935"/>
          </a:xfrm>
          <a:prstGeom prst="rect">
            <a:avLst/>
          </a:prstGeom>
        </p:spPr>
        <p:txBody>
          <a:bodyPr anchor="t" rtlCol="false" tIns="0" lIns="0" bIns="0" rIns="0">
            <a:spAutoFit/>
          </a:bodyPr>
          <a:lstStyle/>
          <a:p>
            <a:pPr algn="l">
              <a:lnSpc>
                <a:spcPts val="6344"/>
              </a:lnSpc>
            </a:pPr>
            <a:r>
              <a:rPr lang="en-US" sz="5565" spc="33">
                <a:solidFill>
                  <a:srgbClr val="27403B"/>
                </a:solidFill>
                <a:latin typeface="Raleway"/>
                <a:ea typeface="Raleway"/>
                <a:cs typeface="Raleway"/>
                <a:sym typeface="Raleway"/>
              </a:rPr>
              <a:t>Which Factors Matter?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sp>
        <p:nvSpPr>
          <p:cNvPr name="Freeform 2" id="2"/>
          <p:cNvSpPr/>
          <p:nvPr/>
        </p:nvSpPr>
        <p:spPr>
          <a:xfrm flipH="false" flipV="false" rot="0">
            <a:off x="10325100" y="2409521"/>
            <a:ext cx="7566749" cy="6053399"/>
          </a:xfrm>
          <a:custGeom>
            <a:avLst/>
            <a:gdLst/>
            <a:ahLst/>
            <a:cxnLst/>
            <a:rect r="r" b="b" t="t" l="l"/>
            <a:pathLst>
              <a:path h="6053399" w="7566749">
                <a:moveTo>
                  <a:pt x="0" y="0"/>
                </a:moveTo>
                <a:lnTo>
                  <a:pt x="7566748" y="0"/>
                </a:lnTo>
                <a:lnTo>
                  <a:pt x="7566748" y="6053399"/>
                </a:lnTo>
                <a:lnTo>
                  <a:pt x="0" y="6053399"/>
                </a:lnTo>
                <a:lnTo>
                  <a:pt x="0" y="0"/>
                </a:lnTo>
                <a:close/>
              </a:path>
            </a:pathLst>
          </a:custGeom>
          <a:blipFill>
            <a:blip r:embed="rId2"/>
            <a:stretch>
              <a:fillRect l="0" t="0" r="0" b="0"/>
            </a:stretch>
          </a:blipFill>
        </p:spPr>
      </p:sp>
      <p:sp>
        <p:nvSpPr>
          <p:cNvPr name="Freeform 3" id="3"/>
          <p:cNvSpPr/>
          <p:nvPr/>
        </p:nvSpPr>
        <p:spPr>
          <a:xfrm flipH="false" flipV="false" rot="0">
            <a:off x="856931" y="2409521"/>
            <a:ext cx="9200973" cy="5750608"/>
          </a:xfrm>
          <a:custGeom>
            <a:avLst/>
            <a:gdLst/>
            <a:ahLst/>
            <a:cxnLst/>
            <a:rect r="r" b="b" t="t" l="l"/>
            <a:pathLst>
              <a:path h="5750608" w="9200973">
                <a:moveTo>
                  <a:pt x="0" y="0"/>
                </a:moveTo>
                <a:lnTo>
                  <a:pt x="9200973" y="0"/>
                </a:lnTo>
                <a:lnTo>
                  <a:pt x="9200973" y="5750608"/>
                </a:lnTo>
                <a:lnTo>
                  <a:pt x="0" y="5750608"/>
                </a:lnTo>
                <a:lnTo>
                  <a:pt x="0" y="0"/>
                </a:lnTo>
                <a:close/>
              </a:path>
            </a:pathLst>
          </a:custGeom>
          <a:blipFill>
            <a:blip r:embed="rId3"/>
            <a:stretch>
              <a:fillRect l="0" t="0" r="0" b="0"/>
            </a:stretch>
          </a:blipFill>
        </p:spPr>
      </p:sp>
      <p:sp>
        <p:nvSpPr>
          <p:cNvPr name="TextBox 4" id="4"/>
          <p:cNvSpPr txBox="true"/>
          <p:nvPr/>
        </p:nvSpPr>
        <p:spPr>
          <a:xfrm rot="0">
            <a:off x="1028700" y="611446"/>
            <a:ext cx="19741113" cy="713351"/>
          </a:xfrm>
          <a:prstGeom prst="rect">
            <a:avLst/>
          </a:prstGeom>
        </p:spPr>
        <p:txBody>
          <a:bodyPr anchor="t" rtlCol="false" tIns="0" lIns="0" bIns="0" rIns="0">
            <a:spAutoFit/>
          </a:bodyPr>
          <a:lstStyle/>
          <a:p>
            <a:pPr algn="l">
              <a:lnSpc>
                <a:spcPts val="5546"/>
              </a:lnSpc>
            </a:pPr>
            <a:r>
              <a:rPr lang="en-US" b="true" sz="4865" spc="29">
                <a:solidFill>
                  <a:srgbClr val="27403B"/>
                </a:solidFill>
                <a:latin typeface="Raleway Heavy"/>
                <a:ea typeface="Raleway Heavy"/>
                <a:cs typeface="Raleway Heavy"/>
                <a:sym typeface="Raleway Heavy"/>
              </a:rPr>
              <a:t>STATISTICAL STRUCTURE OF THE ETHEREUM MARKET</a:t>
            </a:r>
          </a:p>
        </p:txBody>
      </p:sp>
      <p:sp>
        <p:nvSpPr>
          <p:cNvPr name="TextBox 5" id="5"/>
          <p:cNvSpPr txBox="true"/>
          <p:nvPr/>
        </p:nvSpPr>
        <p:spPr>
          <a:xfrm rot="0">
            <a:off x="741483" y="8436253"/>
            <a:ext cx="16805035" cy="1557456"/>
          </a:xfrm>
          <a:prstGeom prst="rect">
            <a:avLst/>
          </a:prstGeom>
        </p:spPr>
        <p:txBody>
          <a:bodyPr anchor="t" rtlCol="false" tIns="0" lIns="0" bIns="0" rIns="0">
            <a:spAutoFit/>
          </a:bodyPr>
          <a:lstStyle/>
          <a:p>
            <a:pPr algn="l" marL="441443" indent="-220721" lvl="1">
              <a:lnSpc>
                <a:spcPts val="3148"/>
              </a:lnSpc>
              <a:buFont typeface="Arial"/>
              <a:buChar char="•"/>
            </a:pPr>
            <a:r>
              <a:rPr lang="en-US" sz="2044">
                <a:solidFill>
                  <a:srgbClr val="000000"/>
                </a:solidFill>
                <a:latin typeface="Garet"/>
                <a:ea typeface="Garet"/>
                <a:cs typeface="Garet"/>
                <a:sym typeface="Garet"/>
              </a:rPr>
              <a:t>Daily returns follow a heavy-tailed distribution, with m</a:t>
            </a:r>
            <a:r>
              <a:rPr lang="en-US" sz="2044">
                <a:solidFill>
                  <a:srgbClr val="000000"/>
                </a:solidFill>
                <a:latin typeface="Garet"/>
                <a:ea typeface="Garet"/>
                <a:cs typeface="Garet"/>
                <a:sym typeface="Garet"/>
              </a:rPr>
              <a:t>any small moves and occasional jumps.</a:t>
            </a:r>
          </a:p>
          <a:p>
            <a:pPr algn="l" marL="441443" indent="-220721" lvl="1">
              <a:lnSpc>
                <a:spcPts val="3148"/>
              </a:lnSpc>
              <a:buFont typeface="Arial"/>
              <a:buChar char="•"/>
            </a:pPr>
            <a:r>
              <a:rPr lang="en-US" sz="2044">
                <a:solidFill>
                  <a:srgbClr val="000000"/>
                </a:solidFill>
                <a:latin typeface="Garet"/>
                <a:ea typeface="Garet"/>
                <a:cs typeface="Garet"/>
                <a:sym typeface="Garet"/>
              </a:rPr>
              <a:t>Strong correlations exist among price-based features.</a:t>
            </a:r>
          </a:p>
          <a:p>
            <a:pPr algn="l" marL="441443" indent="-220721" lvl="1">
              <a:lnSpc>
                <a:spcPts val="3148"/>
              </a:lnSpc>
              <a:buFont typeface="Arial"/>
              <a:buChar char="•"/>
            </a:pPr>
            <a:r>
              <a:rPr lang="en-US" sz="2044">
                <a:solidFill>
                  <a:srgbClr val="000000"/>
                </a:solidFill>
                <a:latin typeface="Garet"/>
                <a:ea typeface="Garet"/>
                <a:cs typeface="Garet"/>
                <a:sym typeface="Garet"/>
              </a:rPr>
              <a:t>On-chai</a:t>
            </a:r>
            <a:r>
              <a:rPr lang="en-US" sz="2044">
                <a:solidFill>
                  <a:srgbClr val="000000"/>
                </a:solidFill>
                <a:latin typeface="Garet"/>
                <a:ea typeface="Garet"/>
                <a:cs typeface="Garet"/>
                <a:sym typeface="Garet"/>
              </a:rPr>
              <a:t>n and sentiment features have weaker correlations (complementary but noisy signals).</a:t>
            </a:r>
          </a:p>
          <a:p>
            <a:pPr algn="l">
              <a:lnSpc>
                <a:spcPts val="3148"/>
              </a:lnSpc>
            </a:pPr>
          </a:p>
        </p:txBody>
      </p:sp>
      <p:sp>
        <p:nvSpPr>
          <p:cNvPr name="TextBox 6" id="6"/>
          <p:cNvSpPr txBox="true"/>
          <p:nvPr/>
        </p:nvSpPr>
        <p:spPr>
          <a:xfrm rot="0">
            <a:off x="1028700" y="1343846"/>
            <a:ext cx="15542322" cy="713351"/>
          </a:xfrm>
          <a:prstGeom prst="rect">
            <a:avLst/>
          </a:prstGeom>
        </p:spPr>
        <p:txBody>
          <a:bodyPr anchor="t" rtlCol="false" tIns="0" lIns="0" bIns="0" rIns="0">
            <a:spAutoFit/>
          </a:bodyPr>
          <a:lstStyle/>
          <a:p>
            <a:pPr algn="l">
              <a:lnSpc>
                <a:spcPts val="5546"/>
              </a:lnSpc>
            </a:pPr>
            <a:r>
              <a:rPr lang="en-US" sz="4865" spc="29">
                <a:solidFill>
                  <a:srgbClr val="27403B"/>
                </a:solidFill>
                <a:latin typeface="Raleway"/>
                <a:ea typeface="Raleway"/>
                <a:cs typeface="Raleway"/>
                <a:sym typeface="Raleway"/>
              </a:rPr>
              <a:t>Why Prediction Is Hard?</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sp>
        <p:nvSpPr>
          <p:cNvPr name="Freeform 2" id="2"/>
          <p:cNvSpPr/>
          <p:nvPr/>
        </p:nvSpPr>
        <p:spPr>
          <a:xfrm flipH="false" flipV="false" rot="0">
            <a:off x="10606795" y="2679252"/>
            <a:ext cx="7397367" cy="4928496"/>
          </a:xfrm>
          <a:custGeom>
            <a:avLst/>
            <a:gdLst/>
            <a:ahLst/>
            <a:cxnLst/>
            <a:rect r="r" b="b" t="t" l="l"/>
            <a:pathLst>
              <a:path h="4928496" w="7397367">
                <a:moveTo>
                  <a:pt x="0" y="0"/>
                </a:moveTo>
                <a:lnTo>
                  <a:pt x="7397367" y="0"/>
                </a:lnTo>
                <a:lnTo>
                  <a:pt x="7397367" y="4928496"/>
                </a:lnTo>
                <a:lnTo>
                  <a:pt x="0" y="4928496"/>
                </a:lnTo>
                <a:lnTo>
                  <a:pt x="0" y="0"/>
                </a:lnTo>
                <a:close/>
              </a:path>
            </a:pathLst>
          </a:custGeom>
          <a:blipFill>
            <a:blip r:embed="rId2"/>
            <a:stretch>
              <a:fillRect l="0" t="0" r="0" b="0"/>
            </a:stretch>
          </a:blipFill>
        </p:spPr>
      </p:sp>
      <p:sp>
        <p:nvSpPr>
          <p:cNvPr name="Freeform 3" id="3"/>
          <p:cNvSpPr/>
          <p:nvPr/>
        </p:nvSpPr>
        <p:spPr>
          <a:xfrm flipH="false" flipV="false" rot="0">
            <a:off x="1028700" y="5991308"/>
            <a:ext cx="9578095" cy="3831238"/>
          </a:xfrm>
          <a:custGeom>
            <a:avLst/>
            <a:gdLst/>
            <a:ahLst/>
            <a:cxnLst/>
            <a:rect r="r" b="b" t="t" l="l"/>
            <a:pathLst>
              <a:path h="3831238" w="9578095">
                <a:moveTo>
                  <a:pt x="0" y="0"/>
                </a:moveTo>
                <a:lnTo>
                  <a:pt x="9578095" y="0"/>
                </a:lnTo>
                <a:lnTo>
                  <a:pt x="9578095" y="3831238"/>
                </a:lnTo>
                <a:lnTo>
                  <a:pt x="0" y="3831238"/>
                </a:lnTo>
                <a:lnTo>
                  <a:pt x="0" y="0"/>
                </a:lnTo>
                <a:close/>
              </a:path>
            </a:pathLst>
          </a:custGeom>
          <a:blipFill>
            <a:blip r:embed="rId3"/>
            <a:stretch>
              <a:fillRect l="0" t="0" r="0" b="0"/>
            </a:stretch>
          </a:blipFill>
        </p:spPr>
      </p:sp>
      <p:sp>
        <p:nvSpPr>
          <p:cNvPr name="TextBox 4" id="4"/>
          <p:cNvSpPr txBox="true"/>
          <p:nvPr/>
        </p:nvSpPr>
        <p:spPr>
          <a:xfrm rot="0">
            <a:off x="1028700" y="611446"/>
            <a:ext cx="19741113" cy="713351"/>
          </a:xfrm>
          <a:prstGeom prst="rect">
            <a:avLst/>
          </a:prstGeom>
        </p:spPr>
        <p:txBody>
          <a:bodyPr anchor="t" rtlCol="false" tIns="0" lIns="0" bIns="0" rIns="0">
            <a:spAutoFit/>
          </a:bodyPr>
          <a:lstStyle/>
          <a:p>
            <a:pPr algn="l">
              <a:lnSpc>
                <a:spcPts val="5546"/>
              </a:lnSpc>
            </a:pPr>
            <a:r>
              <a:rPr lang="en-US" b="true" sz="4865" spc="29">
                <a:solidFill>
                  <a:srgbClr val="27403B"/>
                </a:solidFill>
                <a:latin typeface="Raleway Heavy"/>
                <a:ea typeface="Raleway Heavy"/>
                <a:cs typeface="Raleway Heavy"/>
                <a:sym typeface="Raleway Heavy"/>
              </a:rPr>
              <a:t>PREDICTION BEHAVIOR &amp; MODEL LIMITATIONS</a:t>
            </a:r>
          </a:p>
        </p:txBody>
      </p:sp>
      <p:sp>
        <p:nvSpPr>
          <p:cNvPr name="TextBox 5" id="5"/>
          <p:cNvSpPr txBox="true"/>
          <p:nvPr/>
        </p:nvSpPr>
        <p:spPr>
          <a:xfrm rot="0">
            <a:off x="1028700" y="2481445"/>
            <a:ext cx="9578095" cy="3018993"/>
          </a:xfrm>
          <a:prstGeom prst="rect">
            <a:avLst/>
          </a:prstGeom>
        </p:spPr>
        <p:txBody>
          <a:bodyPr anchor="t" rtlCol="false" tIns="0" lIns="0" bIns="0" rIns="0">
            <a:spAutoFit/>
          </a:bodyPr>
          <a:lstStyle/>
          <a:p>
            <a:pPr algn="l" marL="490247" indent="-245123" lvl="1">
              <a:lnSpc>
                <a:spcPts val="3496"/>
              </a:lnSpc>
              <a:buFont typeface="Arial"/>
              <a:buChar char="•"/>
            </a:pPr>
            <a:r>
              <a:rPr lang="en-US" sz="2270">
                <a:solidFill>
                  <a:srgbClr val="000000"/>
                </a:solidFill>
                <a:latin typeface="Garet"/>
                <a:ea typeface="Garet"/>
                <a:cs typeface="Garet"/>
                <a:sym typeface="Garet"/>
              </a:rPr>
              <a:t>Predicted probabilities cluster around 0.5–0.7, showing limited confidence due to </a:t>
            </a:r>
            <a:r>
              <a:rPr lang="en-US" sz="2270">
                <a:solidFill>
                  <a:srgbClr val="000000"/>
                </a:solidFill>
                <a:latin typeface="Garet"/>
                <a:ea typeface="Garet"/>
                <a:cs typeface="Garet"/>
                <a:sym typeface="Garet"/>
              </a:rPr>
              <a:t>noisy short-term signals.</a:t>
            </a:r>
          </a:p>
          <a:p>
            <a:pPr algn="l" marL="490247" indent="-245123" lvl="1">
              <a:lnSpc>
                <a:spcPts val="3496"/>
              </a:lnSpc>
              <a:buFont typeface="Arial"/>
              <a:buChar char="•"/>
            </a:pPr>
            <a:r>
              <a:rPr lang="en-US" sz="2270">
                <a:solidFill>
                  <a:srgbClr val="000000"/>
                </a:solidFill>
                <a:latin typeface="Garet"/>
                <a:ea typeface="Garet"/>
                <a:cs typeface="Garet"/>
                <a:sym typeface="Garet"/>
              </a:rPr>
              <a:t>Timeline comparison reveals frequent mismatches, especially during trend reversals </a:t>
            </a:r>
            <a:r>
              <a:rPr lang="en-US" sz="2270">
                <a:solidFill>
                  <a:srgbClr val="000000"/>
                </a:solidFill>
                <a:latin typeface="Garet"/>
                <a:ea typeface="Garet"/>
                <a:cs typeface="Garet"/>
                <a:sym typeface="Garet"/>
              </a:rPr>
              <a:t>or high-volatility periods.</a:t>
            </a:r>
          </a:p>
          <a:p>
            <a:pPr algn="l" marL="490247" indent="-245123" lvl="1">
              <a:lnSpc>
                <a:spcPts val="3496"/>
              </a:lnSpc>
              <a:buFont typeface="Arial"/>
              <a:buChar char="•"/>
            </a:pPr>
            <a:r>
              <a:rPr lang="en-US" sz="2270">
                <a:solidFill>
                  <a:srgbClr val="000000"/>
                </a:solidFill>
                <a:latin typeface="Garet"/>
                <a:ea typeface="Garet"/>
                <a:cs typeface="Garet"/>
                <a:sym typeface="Garet"/>
              </a:rPr>
              <a:t>Model tends to overpredict ‘up’ movements, reflecting crypto’s upward bias but also creating false positives.</a:t>
            </a:r>
          </a:p>
          <a:p>
            <a:pPr algn="l">
              <a:lnSpc>
                <a:spcPts val="3496"/>
              </a:lnSpc>
            </a:pPr>
          </a:p>
        </p:txBody>
      </p:sp>
      <p:sp>
        <p:nvSpPr>
          <p:cNvPr name="TextBox 6" id="6"/>
          <p:cNvSpPr txBox="true"/>
          <p:nvPr/>
        </p:nvSpPr>
        <p:spPr>
          <a:xfrm rot="0">
            <a:off x="1028700" y="1343846"/>
            <a:ext cx="15542322" cy="713351"/>
          </a:xfrm>
          <a:prstGeom prst="rect">
            <a:avLst/>
          </a:prstGeom>
        </p:spPr>
        <p:txBody>
          <a:bodyPr anchor="t" rtlCol="false" tIns="0" lIns="0" bIns="0" rIns="0">
            <a:spAutoFit/>
          </a:bodyPr>
          <a:lstStyle/>
          <a:p>
            <a:pPr algn="l">
              <a:lnSpc>
                <a:spcPts val="5546"/>
              </a:lnSpc>
            </a:pPr>
            <a:r>
              <a:rPr lang="en-US" sz="4865" spc="29">
                <a:solidFill>
                  <a:srgbClr val="27403B"/>
                </a:solidFill>
                <a:latin typeface="Raleway"/>
                <a:ea typeface="Raleway"/>
                <a:cs typeface="Raleway"/>
                <a:sym typeface="Raleway"/>
              </a:rPr>
              <a:t>How the Model Behaves in Reality?</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solidFill>
                <a:srgbClr val="000000">
                  <a:alpha val="0"/>
                </a:srgbClr>
              </a:solidFill>
              <a:ln w="66675" cap="sq">
                <a:solidFill>
                  <a:srgbClr val="508484"/>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solidFill>
                <a:srgbClr val="000000">
                  <a:alpha val="0"/>
                </a:srgbClr>
              </a:solidFill>
              <a:ln w="66675" cap="sq">
                <a:solidFill>
                  <a:srgbClr val="7CBBBB"/>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solidFill>
                <a:srgbClr val="000000">
                  <a:alpha val="0"/>
                </a:srgbClr>
              </a:solidFill>
              <a:ln w="66675" cap="sq">
                <a:solidFill>
                  <a:srgbClr val="B5EFE3"/>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10800000">
              <a:off x="18828976" y="8387239"/>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3" id="13"/>
          <p:cNvSpPr txBox="true"/>
          <p:nvPr/>
        </p:nvSpPr>
        <p:spPr>
          <a:xfrm rot="0">
            <a:off x="1257725" y="1170129"/>
            <a:ext cx="11757282" cy="1437489"/>
          </a:xfrm>
          <a:prstGeom prst="rect">
            <a:avLst/>
          </a:prstGeom>
        </p:spPr>
        <p:txBody>
          <a:bodyPr anchor="t" rtlCol="false" tIns="0" lIns="0" bIns="0" rIns="0">
            <a:spAutoFit/>
          </a:bodyPr>
          <a:lstStyle/>
          <a:p>
            <a:pPr algn="l">
              <a:lnSpc>
                <a:spcPts val="5647"/>
              </a:lnSpc>
            </a:pPr>
            <a:r>
              <a:rPr lang="en-US" b="true" sz="4953" spc="29">
                <a:solidFill>
                  <a:srgbClr val="27403B"/>
                </a:solidFill>
                <a:latin typeface="Raleway Heavy"/>
                <a:ea typeface="Raleway Heavy"/>
                <a:cs typeface="Raleway Heavy"/>
                <a:sym typeface="Raleway Heavy"/>
              </a:rPr>
              <a:t>KEY CHALLENGES IN PREDICTING </a:t>
            </a:r>
          </a:p>
          <a:p>
            <a:pPr algn="l">
              <a:lnSpc>
                <a:spcPts val="5647"/>
              </a:lnSpc>
            </a:pPr>
            <a:r>
              <a:rPr lang="en-US" b="true" sz="4953" spc="29">
                <a:solidFill>
                  <a:srgbClr val="27403B"/>
                </a:solidFill>
                <a:latin typeface="Raleway Heavy"/>
                <a:ea typeface="Raleway Heavy"/>
                <a:cs typeface="Raleway Heavy"/>
                <a:sym typeface="Raleway Heavy"/>
              </a:rPr>
              <a:t>WEEKLY ETH MOVEMENTS</a:t>
            </a:r>
          </a:p>
        </p:txBody>
      </p:sp>
      <p:sp>
        <p:nvSpPr>
          <p:cNvPr name="TextBox 14" id="14"/>
          <p:cNvSpPr txBox="true"/>
          <p:nvPr/>
        </p:nvSpPr>
        <p:spPr>
          <a:xfrm rot="0">
            <a:off x="1257725" y="2512368"/>
            <a:ext cx="15304314" cy="7555358"/>
          </a:xfrm>
          <a:prstGeom prst="rect">
            <a:avLst/>
          </a:prstGeom>
        </p:spPr>
        <p:txBody>
          <a:bodyPr anchor="t" rtlCol="false" tIns="0" lIns="0" bIns="0" rIns="0">
            <a:spAutoFit/>
          </a:bodyPr>
          <a:lstStyle/>
          <a:p>
            <a:pPr algn="l">
              <a:lnSpc>
                <a:spcPts val="4003"/>
              </a:lnSpc>
            </a:pPr>
            <a:r>
              <a:rPr lang="en-US" sz="2599">
                <a:solidFill>
                  <a:srgbClr val="000000"/>
                </a:solidFill>
                <a:latin typeface="Garet"/>
                <a:ea typeface="Garet"/>
                <a:cs typeface="Garet"/>
                <a:sym typeface="Garet"/>
              </a:rPr>
              <a:t>1. Market volatility is extremely high and patterns are unstable</a:t>
            </a:r>
          </a:p>
          <a:p>
            <a:pPr algn="l" marL="561337" indent="-280669" lvl="1">
              <a:lnSpc>
                <a:spcPts val="4003"/>
              </a:lnSpc>
              <a:buFont typeface="Arial"/>
              <a:buChar char="•"/>
            </a:pPr>
            <a:r>
              <a:rPr lang="en-US" sz="2599">
                <a:solidFill>
                  <a:srgbClr val="000000"/>
                </a:solidFill>
                <a:latin typeface="Garet"/>
                <a:ea typeface="Garet"/>
                <a:cs typeface="Garet"/>
                <a:sym typeface="Garet"/>
              </a:rPr>
              <a:t>Cryptocurrency prices are highly volatile and noisy, making weekly price movements extremely difficult to predict.</a:t>
            </a:r>
          </a:p>
          <a:p>
            <a:pPr algn="l" marL="561337" indent="-280669" lvl="1">
              <a:lnSpc>
                <a:spcPts val="4003"/>
              </a:lnSpc>
              <a:buFont typeface="Arial"/>
              <a:buChar char="•"/>
            </a:pPr>
            <a:r>
              <a:rPr lang="en-US" sz="2599">
                <a:solidFill>
                  <a:srgbClr val="000000"/>
                </a:solidFill>
                <a:latin typeface="Garet"/>
                <a:ea typeface="Garet"/>
                <a:cs typeface="Garet"/>
                <a:sym typeface="Garet"/>
              </a:rPr>
              <a:t>Short-term pumps/dumps break historical patterns and reduce model reliability.</a:t>
            </a:r>
          </a:p>
          <a:p>
            <a:pPr algn="l">
              <a:lnSpc>
                <a:spcPts val="4003"/>
              </a:lnSpc>
            </a:pPr>
            <a:r>
              <a:rPr lang="en-US" sz="2599">
                <a:solidFill>
                  <a:srgbClr val="000000"/>
                </a:solidFill>
                <a:latin typeface="Garet"/>
                <a:ea typeface="Garet"/>
                <a:cs typeface="Garet"/>
                <a:sym typeface="Garet"/>
              </a:rPr>
              <a:t>2. Limited data for weekly prediction (only 485 samples)</a:t>
            </a:r>
          </a:p>
          <a:p>
            <a:pPr algn="l" marL="561337" indent="-280669" lvl="1">
              <a:lnSpc>
                <a:spcPts val="4003"/>
              </a:lnSpc>
              <a:buFont typeface="Arial"/>
              <a:buChar char="•"/>
            </a:pPr>
            <a:r>
              <a:rPr lang="en-US" sz="2599">
                <a:solidFill>
                  <a:srgbClr val="000000"/>
                </a:solidFill>
                <a:latin typeface="Garet"/>
                <a:ea typeface="Garet"/>
                <a:cs typeface="Garet"/>
                <a:sym typeface="Garet"/>
              </a:rPr>
              <a:t>Weekly-labeling compresses 500 daily rows into 485 usable rows.</a:t>
            </a:r>
          </a:p>
          <a:p>
            <a:pPr algn="l" marL="561337" indent="-280669" lvl="1">
              <a:lnSpc>
                <a:spcPts val="4003"/>
              </a:lnSpc>
              <a:buFont typeface="Arial"/>
              <a:buChar char="•"/>
            </a:pPr>
            <a:r>
              <a:rPr lang="en-US" sz="2599">
                <a:solidFill>
                  <a:srgbClr val="000000"/>
                </a:solidFill>
                <a:latin typeface="Garet"/>
                <a:ea typeface="Garet"/>
                <a:cs typeface="Garet"/>
                <a:sym typeface="Garet"/>
              </a:rPr>
              <a:t>This small dataset can lead to overfitting and prevent the model from learning deeper nonlinear relationships.</a:t>
            </a:r>
          </a:p>
          <a:p>
            <a:pPr algn="l">
              <a:lnSpc>
                <a:spcPts val="4003"/>
              </a:lnSpc>
            </a:pPr>
            <a:r>
              <a:rPr lang="en-US" sz="2599">
                <a:solidFill>
                  <a:srgbClr val="000000"/>
                </a:solidFill>
                <a:latin typeface="Garet"/>
                <a:ea typeface="Garet"/>
                <a:cs typeface="Garet"/>
                <a:sym typeface="Garet"/>
              </a:rPr>
              <a:t>3. Difficult to detect a positive week due to class imbalance &amp; weak signals</a:t>
            </a:r>
          </a:p>
          <a:p>
            <a:pPr algn="l" marL="561337" indent="-280669" lvl="1">
              <a:lnSpc>
                <a:spcPts val="4003"/>
              </a:lnSpc>
              <a:buFont typeface="Arial"/>
              <a:buChar char="•"/>
            </a:pPr>
            <a:r>
              <a:rPr lang="en-US" sz="2599">
                <a:solidFill>
                  <a:srgbClr val="000000"/>
                </a:solidFill>
                <a:latin typeface="Garet"/>
                <a:ea typeface="Garet"/>
                <a:cs typeface="Garet"/>
                <a:sym typeface="Garet"/>
              </a:rPr>
              <a:t>“Up” weeks occur less consistently, causing the model to default to predicting 0 (no increase).</a:t>
            </a:r>
          </a:p>
          <a:p>
            <a:pPr algn="l" marL="561337" indent="-280669" lvl="1">
              <a:lnSpc>
                <a:spcPts val="4003"/>
              </a:lnSpc>
              <a:buFont typeface="Arial"/>
              <a:buChar char="•"/>
            </a:pPr>
            <a:r>
              <a:rPr lang="en-US" sz="2599">
                <a:solidFill>
                  <a:srgbClr val="000000"/>
                </a:solidFill>
                <a:latin typeface="Garet"/>
                <a:ea typeface="Garet"/>
                <a:cs typeface="Garet"/>
                <a:sym typeface="Garet"/>
              </a:rPr>
              <a:t>Sentiment and on-chain metrics help, but signals are still too weak to achieve high recall.</a:t>
            </a:r>
          </a:p>
          <a:p>
            <a:pPr algn="l">
              <a:lnSpc>
                <a:spcPts val="4003"/>
              </a:lnSpc>
            </a:pPr>
          </a:p>
          <a:p>
            <a:pPr algn="l">
              <a:lnSpc>
                <a:spcPts val="4003"/>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9FFFE"/>
        </a:solidFill>
      </p:bgPr>
    </p:bg>
    <p:spTree>
      <p:nvGrpSpPr>
        <p:cNvPr id="1" name=""/>
        <p:cNvGrpSpPr/>
        <p:nvPr/>
      </p:nvGrpSpPr>
      <p:grpSpPr>
        <a:xfrm>
          <a:off x="0" y="0"/>
          <a:ext cx="0" cy="0"/>
          <a:chOff x="0" y="0"/>
          <a:chExt cx="0" cy="0"/>
        </a:xfrm>
      </p:grpSpPr>
      <p:grpSp>
        <p:nvGrpSpPr>
          <p:cNvPr name="Group 2" id="2"/>
          <p:cNvGrpSpPr/>
          <p:nvPr/>
        </p:nvGrpSpPr>
        <p:grpSpPr>
          <a:xfrm rot="0">
            <a:off x="379705" y="333297"/>
            <a:ext cx="17451709" cy="9620406"/>
            <a:chOff x="0" y="0"/>
            <a:chExt cx="23268945" cy="12827209"/>
          </a:xfrm>
        </p:grpSpPr>
        <p:grpSp>
          <p:nvGrpSpPr>
            <p:cNvPr name="Group 3" id="3"/>
            <p:cNvGrpSpPr/>
            <p:nvPr/>
          </p:nvGrpSpPr>
          <p:grpSpPr>
            <a:xfrm rot="0">
              <a:off x="0" y="0"/>
              <a:ext cx="23268945" cy="12827209"/>
              <a:chOff x="0" y="0"/>
              <a:chExt cx="6619526" cy="3649071"/>
            </a:xfrm>
          </p:grpSpPr>
          <p:sp>
            <p:nvSpPr>
              <p:cNvPr name="Freeform 4" id="4"/>
              <p:cNvSpPr/>
              <p:nvPr/>
            </p:nvSpPr>
            <p:spPr>
              <a:xfrm flipH="false" flipV="false" rot="0">
                <a:off x="0" y="0"/>
                <a:ext cx="6619526" cy="3649071"/>
              </a:xfrm>
              <a:custGeom>
                <a:avLst/>
                <a:gdLst/>
                <a:ahLst/>
                <a:cxnLst/>
                <a:rect r="r" b="b" t="t" l="l"/>
                <a:pathLst>
                  <a:path h="3649071" w="6619526">
                    <a:moveTo>
                      <a:pt x="0" y="0"/>
                    </a:moveTo>
                    <a:lnTo>
                      <a:pt x="6619526" y="0"/>
                    </a:lnTo>
                    <a:lnTo>
                      <a:pt x="6619526" y="3649071"/>
                    </a:lnTo>
                    <a:lnTo>
                      <a:pt x="0" y="3649071"/>
                    </a:lnTo>
                    <a:close/>
                  </a:path>
                </a:pathLst>
              </a:custGeom>
              <a:solidFill>
                <a:srgbClr val="000000">
                  <a:alpha val="0"/>
                </a:srgbClr>
              </a:solidFill>
              <a:ln w="66675" cap="sq">
                <a:solidFill>
                  <a:srgbClr val="508484"/>
                </a:solidFill>
                <a:prstDash val="solid"/>
                <a:miter/>
              </a:ln>
            </p:spPr>
          </p:sp>
          <p:sp>
            <p:nvSpPr>
              <p:cNvPr name="TextBox 5" id="5"/>
              <p:cNvSpPr txBox="true"/>
              <p:nvPr/>
            </p:nvSpPr>
            <p:spPr>
              <a:xfrm>
                <a:off x="0" y="-28575"/>
                <a:ext cx="6619526" cy="3677646"/>
              </a:xfrm>
              <a:prstGeom prst="rect">
                <a:avLst/>
              </a:prstGeom>
            </p:spPr>
            <p:txBody>
              <a:bodyPr anchor="ctr" rtlCol="false" tIns="48876" lIns="48876" bIns="48876" rIns="48876"/>
              <a:lstStyle/>
              <a:p>
                <a:pPr algn="ctr">
                  <a:lnSpc>
                    <a:spcPts val="2344"/>
                  </a:lnSpc>
                </a:pPr>
              </a:p>
            </p:txBody>
          </p:sp>
        </p:grpSp>
        <p:grpSp>
          <p:nvGrpSpPr>
            <p:cNvPr name="Group 6" id="6"/>
            <p:cNvGrpSpPr/>
            <p:nvPr/>
          </p:nvGrpSpPr>
          <p:grpSpPr>
            <a:xfrm rot="0">
              <a:off x="293149" y="293179"/>
              <a:ext cx="22662658" cy="12194998"/>
              <a:chOff x="0" y="0"/>
              <a:chExt cx="6447050" cy="3469221"/>
            </a:xfrm>
          </p:grpSpPr>
          <p:sp>
            <p:nvSpPr>
              <p:cNvPr name="Freeform 7" id="7"/>
              <p:cNvSpPr/>
              <p:nvPr/>
            </p:nvSpPr>
            <p:spPr>
              <a:xfrm flipH="false" flipV="false" rot="0">
                <a:off x="0" y="0"/>
                <a:ext cx="6447050" cy="3469221"/>
              </a:xfrm>
              <a:custGeom>
                <a:avLst/>
                <a:gdLst/>
                <a:ahLst/>
                <a:cxnLst/>
                <a:rect r="r" b="b" t="t" l="l"/>
                <a:pathLst>
                  <a:path h="3469221" w="6447050">
                    <a:moveTo>
                      <a:pt x="0" y="0"/>
                    </a:moveTo>
                    <a:lnTo>
                      <a:pt x="6447050" y="0"/>
                    </a:lnTo>
                    <a:lnTo>
                      <a:pt x="6447050" y="3469221"/>
                    </a:lnTo>
                    <a:lnTo>
                      <a:pt x="0" y="3469221"/>
                    </a:lnTo>
                    <a:close/>
                  </a:path>
                </a:pathLst>
              </a:custGeom>
              <a:solidFill>
                <a:srgbClr val="000000">
                  <a:alpha val="0"/>
                </a:srgbClr>
              </a:solidFill>
              <a:ln w="66675" cap="sq">
                <a:solidFill>
                  <a:srgbClr val="7CBBBB"/>
                </a:solidFill>
                <a:prstDash val="solid"/>
                <a:miter/>
              </a:ln>
            </p:spPr>
          </p:sp>
          <p:sp>
            <p:nvSpPr>
              <p:cNvPr name="TextBox 8" id="8"/>
              <p:cNvSpPr txBox="true"/>
              <p:nvPr/>
            </p:nvSpPr>
            <p:spPr>
              <a:xfrm>
                <a:off x="0" y="-28575"/>
                <a:ext cx="6447050" cy="3497796"/>
              </a:xfrm>
              <a:prstGeom prst="rect">
                <a:avLst/>
              </a:prstGeom>
            </p:spPr>
            <p:txBody>
              <a:bodyPr anchor="ctr" rtlCol="false" tIns="48876" lIns="48876" bIns="48876" rIns="48876"/>
              <a:lstStyle/>
              <a:p>
                <a:pPr algn="ctr">
                  <a:lnSpc>
                    <a:spcPts val="2344"/>
                  </a:lnSpc>
                </a:pPr>
              </a:p>
            </p:txBody>
          </p:sp>
        </p:grpSp>
        <p:grpSp>
          <p:nvGrpSpPr>
            <p:cNvPr name="Group 9" id="9"/>
            <p:cNvGrpSpPr/>
            <p:nvPr/>
          </p:nvGrpSpPr>
          <p:grpSpPr>
            <a:xfrm rot="0">
              <a:off x="675815" y="689359"/>
              <a:ext cx="21959466" cy="11434829"/>
              <a:chOff x="0" y="0"/>
              <a:chExt cx="6247007" cy="3252969"/>
            </a:xfrm>
          </p:grpSpPr>
          <p:sp>
            <p:nvSpPr>
              <p:cNvPr name="Freeform 10" id="10"/>
              <p:cNvSpPr/>
              <p:nvPr/>
            </p:nvSpPr>
            <p:spPr>
              <a:xfrm flipH="false" flipV="false" rot="0">
                <a:off x="0" y="0"/>
                <a:ext cx="6247007" cy="3252968"/>
              </a:xfrm>
              <a:custGeom>
                <a:avLst/>
                <a:gdLst/>
                <a:ahLst/>
                <a:cxnLst/>
                <a:rect r="r" b="b" t="t" l="l"/>
                <a:pathLst>
                  <a:path h="3252968" w="6247007">
                    <a:moveTo>
                      <a:pt x="0" y="0"/>
                    </a:moveTo>
                    <a:lnTo>
                      <a:pt x="6247007" y="0"/>
                    </a:lnTo>
                    <a:lnTo>
                      <a:pt x="6247007" y="3252968"/>
                    </a:lnTo>
                    <a:lnTo>
                      <a:pt x="0" y="3252968"/>
                    </a:lnTo>
                    <a:close/>
                  </a:path>
                </a:pathLst>
              </a:custGeom>
              <a:solidFill>
                <a:srgbClr val="000000">
                  <a:alpha val="0"/>
                </a:srgbClr>
              </a:solidFill>
              <a:ln w="66675" cap="sq">
                <a:solidFill>
                  <a:srgbClr val="B5EFE3"/>
                </a:solidFill>
                <a:prstDash val="solid"/>
                <a:miter/>
              </a:ln>
            </p:spPr>
          </p:sp>
          <p:sp>
            <p:nvSpPr>
              <p:cNvPr name="TextBox 11" id="11"/>
              <p:cNvSpPr txBox="true"/>
              <p:nvPr/>
            </p:nvSpPr>
            <p:spPr>
              <a:xfrm>
                <a:off x="0" y="-28575"/>
                <a:ext cx="6247007" cy="3281544"/>
              </a:xfrm>
              <a:prstGeom prst="rect">
                <a:avLst/>
              </a:prstGeom>
            </p:spPr>
            <p:txBody>
              <a:bodyPr anchor="ctr" rtlCol="false" tIns="48876" lIns="48876" bIns="48876" rIns="48876"/>
              <a:lstStyle/>
              <a:p>
                <a:pPr algn="ctr">
                  <a:lnSpc>
                    <a:spcPts val="2344"/>
                  </a:lnSpc>
                </a:pPr>
              </a:p>
            </p:txBody>
          </p:sp>
        </p:grpSp>
        <p:sp>
          <p:nvSpPr>
            <p:cNvPr name="Freeform 12" id="12"/>
            <p:cNvSpPr/>
            <p:nvPr/>
          </p:nvSpPr>
          <p:spPr>
            <a:xfrm flipH="false" flipV="false" rot="-10800000">
              <a:off x="18828976" y="8387239"/>
              <a:ext cx="4439970" cy="4439970"/>
            </a:xfrm>
            <a:custGeom>
              <a:avLst/>
              <a:gdLst/>
              <a:ahLst/>
              <a:cxnLst/>
              <a:rect r="r" b="b" t="t" l="l"/>
              <a:pathLst>
                <a:path h="4439970" w="4439970">
                  <a:moveTo>
                    <a:pt x="0" y="0"/>
                  </a:moveTo>
                  <a:lnTo>
                    <a:pt x="4439969" y="0"/>
                  </a:lnTo>
                  <a:lnTo>
                    <a:pt x="4439969"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0" y="0"/>
              <a:ext cx="4439970" cy="4439970"/>
            </a:xfrm>
            <a:custGeom>
              <a:avLst/>
              <a:gdLst/>
              <a:ahLst/>
              <a:cxnLst/>
              <a:rect r="r" b="b" t="t" l="l"/>
              <a:pathLst>
                <a:path h="4439970" w="4439970">
                  <a:moveTo>
                    <a:pt x="0" y="0"/>
                  </a:moveTo>
                  <a:lnTo>
                    <a:pt x="4439970" y="0"/>
                  </a:lnTo>
                  <a:lnTo>
                    <a:pt x="4439970" y="4439970"/>
                  </a:lnTo>
                  <a:lnTo>
                    <a:pt x="0" y="443997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sp>
        <p:nvSpPr>
          <p:cNvPr name="TextBox 14" id="14"/>
          <p:cNvSpPr txBox="true"/>
          <p:nvPr/>
        </p:nvSpPr>
        <p:spPr>
          <a:xfrm rot="0">
            <a:off x="2273573" y="3212672"/>
            <a:ext cx="13663973" cy="3728305"/>
          </a:xfrm>
          <a:prstGeom prst="rect">
            <a:avLst/>
          </a:prstGeom>
        </p:spPr>
        <p:txBody>
          <a:bodyPr anchor="t" rtlCol="false" tIns="0" lIns="0" bIns="0" rIns="0">
            <a:spAutoFit/>
          </a:bodyPr>
          <a:lstStyle/>
          <a:p>
            <a:pPr algn="ctr">
              <a:lnSpc>
                <a:spcPts val="14806"/>
              </a:lnSpc>
            </a:pPr>
            <a:r>
              <a:rPr lang="en-US" b="true" sz="11302" spc="565">
                <a:solidFill>
                  <a:srgbClr val="27403B"/>
                </a:solidFill>
                <a:latin typeface="Raleway Heavy"/>
                <a:ea typeface="Raleway Heavy"/>
                <a:cs typeface="Raleway Heavy"/>
                <a:sym typeface="Raleway Heavy"/>
              </a:rPr>
              <a:t>THANK</a:t>
            </a:r>
          </a:p>
          <a:p>
            <a:pPr algn="ctr">
              <a:lnSpc>
                <a:spcPts val="14806"/>
              </a:lnSpc>
            </a:pPr>
            <a:r>
              <a:rPr lang="en-US" b="true" sz="11302" spc="565">
                <a:solidFill>
                  <a:srgbClr val="27403B"/>
                </a:solidFill>
                <a:latin typeface="Raleway Heavy"/>
                <a:ea typeface="Raleway Heavy"/>
                <a:cs typeface="Raleway Heavy"/>
                <a:sym typeface="Raleway Heavy"/>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DAG5vCt7O4Q</dc:identifier>
  <dcterms:modified xsi:type="dcterms:W3CDTF">2011-08-01T06:04:30Z</dcterms:modified>
  <cp:revision>1</cp:revision>
  <dc:title>yunhui_dong_final_project_presentation_slides</dc:title>
</cp:coreProperties>
</file>